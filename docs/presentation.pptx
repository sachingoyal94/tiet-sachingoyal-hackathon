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053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4343400" y="2148840"/>
            <a:ext cx="7406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Risk</a:t>
            </a:r>
            <a:endParaRPr lang="en-US" sz="44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 Platform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370832" y="4160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AI/NLP risk signals from news and social media, driving tactical index rebalancing and regulator-grade portfolio stress testing.</a:t>
            </a:r>
            <a:endParaRPr lang="en-US" sz="1600" dirty="0"/>
          </a:p>
        </p:txBody>
      </p:sp>
      <p:pic>
        <p:nvPicPr>
          <p:cNvPr id="6" name="Image 0" descr="S&amp;P Global and Crisil Campus Hackathon 2026 official logo representing Sachin Goyal from Thapar Institute of Engineering and Technology in Patiala">
            <a:extLst>
              <a:ext uri="{FF2B5EF4-FFF2-40B4-BE49-F238E27FC236}">
                <a16:creationId xmlns:a16="http://schemas.microsoft.com/office/drawing/2014/main" id="{42C79CFC-B0AB-28AB-D1D1-4A1F24483B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222" r="22222"/>
          <a:stretch/>
        </p:blipFill>
        <p:spPr>
          <a:xfrm>
            <a:off x="0" y="0"/>
            <a:ext cx="3810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deck_build/assets/hero_be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19672" y="0"/>
            <a:ext cx="56692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51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12984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&amp; Approach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8745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02920" y="21579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Market-moving information exists in unstructured formats. Human interpretation is: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246888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Slow: lagging behind real-time market movements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Subjective: vulnerable to individual bias</a:t>
            </a:r>
            <a:endParaRPr lang="en-US" sz="1150" dirty="0"/>
          </a:p>
          <a:p>
            <a:pPr marL="101600" indent="-101600"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Limited: restricted by human operating hours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3611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Approach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3913632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Specialist models: FinancialBERT for calibrated sentiment, a small LLM for per-entity understanding</a:t>
            </a:r>
            <a:endParaRPr lang="en-US" sz="1150" dirty="0"/>
          </a:p>
          <a:p>
            <a:pPr marL="101600" indent="-101600"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Backtesting: benchmarked against 15 years of real news data and market reactions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50292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Outputs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5330952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Sentiment: scaled -1 to 1 (96.7% accuracy)</a:t>
            </a:r>
            <a:endParaRPr lang="en-US" sz="11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class: categorized across 6 primary labels</a:t>
            </a:r>
            <a:endParaRPr lang="en-US" sz="1150" dirty="0"/>
          </a:p>
          <a:p>
            <a:pPr marL="101600" indent="-101600"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score: calibrated 1-10 based on 19,872 historical events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Design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7899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engine, three layers, and two downstream decision-making modules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989320" y="188366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6208776" y="1783080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Ingestion Layer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208776" y="2121408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Aggregates data from GDELT (15m live news), 91k FNSPID headlines, and 10.5k tweets.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89320" y="2990088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6208776" y="2889504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AI/NLP Risk Engine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208776" y="3227832"/>
            <a:ext cx="5449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Executes a pipeline involving entity matching, FinancialBERT sentiment analysis, Qwen3-4B LLM processing, event classification, and impact calculation.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89320" y="430682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6208776" y="4206240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 &amp; Decisions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208776" y="4544568"/>
            <a:ext cx="5449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Performs 24h event clustering to feed into volatility-adjusted index tilting and scenario stress/CET1 flow modules.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89320" y="562356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6208776" y="5522976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Serving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208776" y="5861304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backbone supporting 15 endpoints and a React dashboard with 47 verified tests.</a:t>
            </a:r>
            <a:endParaRPr lang="en-US" sz="12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EB9666E-7B57-7F46-C10F-F90682653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33" y="1764792"/>
            <a:ext cx="52273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Highlights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7899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Choices we can defend, and the evidence behind each.</a:t>
            </a:r>
            <a:endParaRPr lang="en-US" sz="1500" dirty="0"/>
          </a:p>
        </p:txBody>
      </p:sp>
      <p:pic>
        <p:nvPicPr>
          <p:cNvPr id="4" name="Image 0" descr="docs/deck_build/assets/dashboard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489204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183794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6208776" y="1737360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FinancialBERT for bulk sentiment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208776" y="2075688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Achieved 96.7% accuracy on held-out data.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89320" y="301752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6208776" y="2916936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for per-entity reading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208776" y="3255264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Outperformed the shared-score baseline: 72.4% vs 59.8% on SEntFiN human labels.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89320" y="4197096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6208776" y="4096512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calibrated on real data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208776" y="4434840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Validated against 19,872 events, showing firm-specific news drives higher alpha.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89320" y="537667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6208776" y="5276088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Regulator-grade stress testing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208776" y="5614416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Compliant with DFAST/EBA standards, featuring 2,287 bps COVID depletion modeling.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202020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630936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methodology ensures robust, data-backed performance compliant with industry stress-testing standards.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RESULTS: 15 Years of Empirical Evidence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News Sentiment vs. Market Reality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2011680"/>
          </a:xfrm>
          <a:prstGeom prst="roundRect">
            <a:avLst>
              <a:gd name="adj" fmla="val 1818"/>
            </a:avLst>
          </a:prstGeom>
          <a:solidFill>
            <a:srgbClr val="1A1A1A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6479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Sentiment Accuracy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05740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96.7%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49808" y="306324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FinancialBERT; bake-off of 6 models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697480" cy="2011680"/>
          </a:xfrm>
          <a:prstGeom prst="roundRect">
            <a:avLst>
              <a:gd name="adj" fmla="val 1818"/>
            </a:avLst>
          </a:prstGeom>
          <a:solidFill>
            <a:srgbClr val="1A1A1A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176479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Directional Hit Rate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84448" y="205740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56.2%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584448" y="306324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vs. 53-55% benchmark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97480" cy="2011680"/>
          </a:xfrm>
          <a:prstGeom prst="roundRect">
            <a:avLst>
              <a:gd name="adj" fmla="val 1818"/>
            </a:avLst>
          </a:prstGeom>
          <a:solidFill>
            <a:srgbClr val="1A1A1A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76479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Credit-Event Reaction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19088" y="205740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+24.9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419088" y="306324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bps CAR; t = 2.96, significant at 1%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1600200"/>
            <a:ext cx="2697480" cy="2011680"/>
          </a:xfrm>
          <a:prstGeom prst="roundRect">
            <a:avLst>
              <a:gd name="adj" fmla="val 1818"/>
            </a:avLst>
          </a:prstGeom>
          <a:solidFill>
            <a:srgbClr val="1A1A1A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3728" y="176479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Score (IC)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53728" y="205740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+0.098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253728" y="306324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calibrated severity + VIX regime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2697480" cy="2011680"/>
          </a:xfrm>
          <a:prstGeom prst="roundRect">
            <a:avLst>
              <a:gd name="adj" fmla="val 1818"/>
            </a:avLst>
          </a:prstGeom>
          <a:solidFill>
            <a:srgbClr val="1A1A1A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91363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Alpha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420624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+0.9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749808" y="521208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pts vs. cap-weight, net of costs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3749040"/>
            <a:ext cx="2697480" cy="2011680"/>
          </a:xfrm>
          <a:prstGeom prst="roundRect">
            <a:avLst>
              <a:gd name="adj" fmla="val 1818"/>
            </a:avLst>
          </a:prstGeom>
          <a:solidFill>
            <a:srgbClr val="1A1A1A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4448" y="391363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Management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84448" y="4206240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-10.4%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3584448" y="521208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vol-targeted variant at 20.7% vol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3749040"/>
            <a:ext cx="2697480" cy="2011680"/>
          </a:xfrm>
          <a:prstGeom prst="roundRect">
            <a:avLst>
              <a:gd name="adj" fmla="val 1818"/>
            </a:avLst>
          </a:prstGeom>
          <a:solidFill>
            <a:srgbClr val="1A1A1A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19088" y="391363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Integrity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19088" y="4297680"/>
            <a:ext cx="2295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Derived from 78k+ articles and 10.5k tweets; no synthetic data used.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52560" y="3749040"/>
            <a:ext cx="2697480" cy="2011680"/>
          </a:xfrm>
          <a:prstGeom prst="roundRect">
            <a:avLst>
              <a:gd name="adj" fmla="val 1818"/>
            </a:avLst>
          </a:prstGeom>
          <a:solidFill>
            <a:srgbClr val="1A1A1A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53728" y="391363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Calibrated Precision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53728" y="4297680"/>
            <a:ext cx="2295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parameters stress-tested against 1.35M real Lending Club loan records.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20202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30936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reflect actual market history, not theoretical marketing projections.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7899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Transforming Workflow Efficiency and Regulatory Compliance</a:t>
            </a:r>
            <a:endParaRPr lang="en-US" sz="1500" dirty="0"/>
          </a:p>
        </p:txBody>
      </p:sp>
      <p:pic>
        <p:nvPicPr>
          <p:cNvPr id="4" name="Image 0" descr="docs/deck_build/assets/stress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489204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188366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6208776" y="1783080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Efficiency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208776" y="2121408"/>
            <a:ext cx="5449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Compresses industry-trusted risk patterns from weeks of manual effort into seconds of automated processing.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89320" y="316382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6208776" y="3063240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 &amp; Signaling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208776" y="3401568"/>
            <a:ext cx="5449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Automates news-to-signal extraction by combining industry-standard intelligence with real-time novelty and corroboration.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89320" y="444398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6208776" y="4343400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Alignment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208776" y="4681728"/>
            <a:ext cx="5449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Mirrors supervisory playbooks like CCAR/DFAST and EBA/ICAAP using transition matrices and Vasicek PD modeling.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89320" y="5724144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6208776" y="5623560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Capital Output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208776" y="5961888"/>
            <a:ext cx="5449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Delivers actionable CET1 depletion figures in basis points, purpose-built for wholesale banking and ratings analysis.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Limitations &amp; 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7899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Assessing performance gaps and future development path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Limitations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48640" y="502920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system issues include illustrative shock calibration, rule-based logic limitations, a modest 0.065 impact IC, and trailing performance against equal-weight benchmarks in 2022.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383280" y="1691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Advancements</a:t>
            </a:r>
            <a:endParaRPr lang="en-US" sz="1550" dirty="0"/>
          </a:p>
        </p:txBody>
      </p:sp>
      <p:pic>
        <p:nvPicPr>
          <p:cNvPr id="8" name="Image 1" descr="docs/deck_build/assets/lim_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148840"/>
            <a:ext cx="2697480" cy="2697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502920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upgrades include intraday event windows, fine-tuned event classifiers, embedding-based deduplication, and a transition to Kafka-based streaming architecture.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217920" y="1691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Expansion</a:t>
            </a:r>
            <a:endParaRPr lang="en-US" sz="1550" dirty="0"/>
          </a:p>
        </p:txBody>
      </p:sp>
      <p:pic>
        <p:nvPicPr>
          <p:cNvPr id="11" name="Image 2" descr="docs/deck_build/assets/lim_ind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148840"/>
            <a:ext cx="2697480" cy="2697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17920" y="502920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Scaling coverage from the current 14 names to broader Indian markets, specifically targeting Crisil indices.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9052560" y="1691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 &amp; Transparency</a:t>
            </a:r>
            <a:endParaRPr lang="en-US" sz="1550" dirty="0"/>
          </a:p>
        </p:txBody>
      </p:sp>
      <p:pic>
        <p:nvPicPr>
          <p:cNvPr id="14" name="Image 3" descr="docs/deck_build/assets/lim_re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2148840"/>
            <a:ext cx="2697480" cy="2697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52560" y="502920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code, evidence artifacts, and measurement scripts are accessible via our public repository under an MIT license.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14C36B2-84DB-5559-3108-34C3E30ABF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148840"/>
            <a:ext cx="2697480" cy="2697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630</Words>
  <Application>Microsoft Office PowerPoint</Application>
  <PresentationFormat>Widescreen</PresentationFormat>
  <Paragraphs>90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Risk Intelligence Platform</dc:title>
  <dc:subject>PptxGenJS Presentation</dc:subject>
  <dc:creator>Sachin Goyal</dc:creator>
  <cp:lastModifiedBy>Sachin Goyal</cp:lastModifiedBy>
  <cp:revision>4</cp:revision>
  <dcterms:created xsi:type="dcterms:W3CDTF">2026-10-06T18:39:15Z</dcterms:created>
  <dcterms:modified xsi:type="dcterms:W3CDTF">2026-10-06T19:29:34Z</dcterms:modified>
</cp:coreProperties>
</file>