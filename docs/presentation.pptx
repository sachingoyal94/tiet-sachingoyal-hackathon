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0536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1"/>
          <p:cNvSpPr/>
          <p:nvPr/>
        </p:nvSpPr>
        <p:spPr>
          <a:xfrm>
            <a:off x="4343400" y="2148840"/>
            <a:ext cx="7406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Risk</a:t>
            </a:r>
            <a:endParaRPr lang="en-US" sz="4400" dirty="0"/>
          </a:p>
          <a:p>
            <a:pPr marL="0" indent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Intelligence Platform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4370832" y="41605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AI/NLP risk signals from news and social media, driving tactical index rebalancing and regulator-grade portfolio stress testing.</a:t>
            </a:r>
            <a:endParaRPr lang="en-US" sz="1600" dirty="0"/>
          </a:p>
        </p:txBody>
      </p:sp>
      <p:pic>
        <p:nvPicPr>
          <p:cNvPr id="6" name="Image 0" descr="S&amp;P Global and Crisil Campus Hackathon 2026 official logo representing Sachin Goyal from Thapar Institute of Engineering and Technology in Patiala">
            <a:extLst>
              <a:ext uri="{FF2B5EF4-FFF2-40B4-BE49-F238E27FC236}">
                <a16:creationId xmlns:a16="http://schemas.microsoft.com/office/drawing/2014/main" id="{42C79CFC-B0AB-28AB-D1D1-4A1F24483B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222" r="22222"/>
          <a:stretch/>
        </p:blipFill>
        <p:spPr>
          <a:xfrm>
            <a:off x="0" y="0"/>
            <a:ext cx="3810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deck_build/assets/hero_ber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519672" y="0"/>
            <a:ext cx="566928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0515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Methodology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02920" y="1298448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&amp; Approach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02920" y="18745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215798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Market-moving information exists in unstructured formats. Human interpretation is: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02920" y="2468880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Slow: lagging behind real-time market movements</a:t>
            </a:r>
            <a:endParaRPr lang="en-US" sz="11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Subjective: vulnerable to individual bias</a:t>
            </a:r>
            <a:endParaRPr lang="en-US" sz="1150" dirty="0"/>
          </a:p>
          <a:p>
            <a:pPr marL="101600" indent="-101600"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Limited: restricted by human operating hours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Approach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02920" y="3913632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models: FinancialBERT for calibrated sentiment, a small LLM for per-entity understanding</a:t>
            </a:r>
            <a:endParaRPr lang="en-US" sz="1150" dirty="0"/>
          </a:p>
          <a:p>
            <a:pPr marL="101600" indent="-101600"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Backtesting: benchmarked against 15 years of real news data and market reactions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02920" y="50292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Outputs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02920" y="5330952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Sentiment: scaled -1 to 1 (96.7% accuracy)</a:t>
            </a:r>
            <a:endParaRPr lang="en-US" sz="1150" dirty="0"/>
          </a:p>
          <a:p>
            <a:pPr marL="101600" indent="-1016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class: categorized across 6 primary labels</a:t>
            </a:r>
            <a:endParaRPr lang="en-US" sz="1150" dirty="0"/>
          </a:p>
          <a:p>
            <a:pPr marL="101600" indent="-101600">
              <a:buSzPct val="100000"/>
              <a:buChar char="•"/>
            </a:pPr>
            <a:r>
              <a:rPr lang="en-US" sz="11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score: calibrated 1-10 based on 19,872 historical events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Design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7899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engine, three layers, and two downstream decision-making modules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989320" y="1883664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" name="Text 3"/>
          <p:cNvSpPr/>
          <p:nvPr/>
        </p:nvSpPr>
        <p:spPr>
          <a:xfrm>
            <a:off x="6208776" y="1783080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Ingestion Layer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6208776" y="2121408"/>
            <a:ext cx="5449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Aggregates data from GDELT (15m live news), 91k FNSPID headlines, and 10.5k tweets.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989320" y="2990088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6208776" y="2889504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AI/NLP Risk Engine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6208776" y="3227832"/>
            <a:ext cx="5449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Executes a pipeline involving entity matching, FinancialBERT sentiment analysis, Qwen3-4B LLM processing, event classification, and impact calculation.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989320" y="4306824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2" name="Text 9"/>
          <p:cNvSpPr/>
          <p:nvPr/>
        </p:nvSpPr>
        <p:spPr>
          <a:xfrm>
            <a:off x="6208776" y="4206240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Events &amp; Decisions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6208776" y="4544568"/>
            <a:ext cx="5449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Performs 24h event clustering to feed into volatility-adjusted index tilting and scenario stress/CET1 flow modules.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989320" y="5623560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6208776" y="5522976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Serving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6208776" y="5861304"/>
            <a:ext cx="5449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 backbone supporting 15 endpoints and a React dashboard with 47 verified tests.</a:t>
            </a:r>
            <a:endParaRPr lang="en-US" sz="12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EB9666E-7B57-7F46-C10F-F906826535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233" y="1764792"/>
            <a:ext cx="5227320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Implementation Highlights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7899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Choices we can defend, and the evidence behind each.</a:t>
            </a:r>
            <a:endParaRPr lang="en-US" sz="1500" dirty="0"/>
          </a:p>
        </p:txBody>
      </p:sp>
      <p:pic>
        <p:nvPicPr>
          <p:cNvPr id="4" name="Image 0" descr="docs/deck_build/assets/dashboard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4892040" cy="4892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89320" y="1837944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" name="Text 3"/>
          <p:cNvSpPr/>
          <p:nvPr/>
        </p:nvSpPr>
        <p:spPr>
          <a:xfrm>
            <a:off x="6208776" y="1737360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FinancialBERT for bulk sentiment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6208776" y="2075688"/>
            <a:ext cx="5449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Achieved 96.7% accuracy on held-out data.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989320" y="3017520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6208776" y="2916936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for per-entity reading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6208776" y="3255264"/>
            <a:ext cx="5449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Outperformed the shared-score baseline: 72.4% vs 59.8% on SEntFiN human labels.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989320" y="4197096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2" name="Text 9"/>
          <p:cNvSpPr/>
          <p:nvPr/>
        </p:nvSpPr>
        <p:spPr>
          <a:xfrm>
            <a:off x="6208776" y="4096512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calibrated on real data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6208776" y="4434840"/>
            <a:ext cx="5449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Validated against 19,872 events, showing firm-specific news drives higher alpha.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989320" y="5376672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6208776" y="5276088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Regulator-grade stress testing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6208776" y="5614416"/>
            <a:ext cx="54498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Compliant with DFAST/EBA standards, featuring 2,287 bps COVID depletion modeling.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202020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630936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methodology ensures robust, data-backed performance compliant with industry stress-testing standards.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74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RESULTS: 15 Years of Empirical Evidence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24128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News Sentiment vs. Market Reality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97480" cy="2011680"/>
          </a:xfrm>
          <a:prstGeom prst="roundRect">
            <a:avLst>
              <a:gd name="adj" fmla="val 1818"/>
            </a:avLst>
          </a:prstGeom>
          <a:solidFill>
            <a:srgbClr val="1A1A1A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6479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Sentiment Accuracy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" y="2057400"/>
            <a:ext cx="2295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96.7%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49808" y="306324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FinancialBERT; bake-off of 6 models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83280" y="1600200"/>
            <a:ext cx="2697480" cy="2011680"/>
          </a:xfrm>
          <a:prstGeom prst="roundRect">
            <a:avLst>
              <a:gd name="adj" fmla="val 1818"/>
            </a:avLst>
          </a:prstGeom>
          <a:solidFill>
            <a:srgbClr val="1A1A1A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84448" y="176479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Directional Hit Rate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584448" y="2057400"/>
            <a:ext cx="2295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56.2%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584448" y="306324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vs. 53-55% benchmark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1600200"/>
            <a:ext cx="2697480" cy="2011680"/>
          </a:xfrm>
          <a:prstGeom prst="roundRect">
            <a:avLst>
              <a:gd name="adj" fmla="val 1818"/>
            </a:avLst>
          </a:prstGeom>
          <a:solidFill>
            <a:srgbClr val="1A1A1A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9088" y="176479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Credit-Event Reaction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19088" y="2057400"/>
            <a:ext cx="2295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+24.9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419088" y="306324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bps CAR; t = 2.96, significant at 1%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52560" y="1600200"/>
            <a:ext cx="2697480" cy="2011680"/>
          </a:xfrm>
          <a:prstGeom prst="roundRect">
            <a:avLst>
              <a:gd name="adj" fmla="val 1818"/>
            </a:avLst>
          </a:prstGeom>
          <a:solidFill>
            <a:srgbClr val="1A1A1A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53728" y="176479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Score (IC)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253728" y="2057400"/>
            <a:ext cx="2295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+0.098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9253728" y="306324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calibrated severity + VIX regime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2697480" cy="2011680"/>
          </a:xfrm>
          <a:prstGeom prst="roundRect">
            <a:avLst>
              <a:gd name="adj" fmla="val 1818"/>
            </a:avLst>
          </a:prstGeom>
          <a:solidFill>
            <a:srgbClr val="1A1A1A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391363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Alpha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49808" y="4206240"/>
            <a:ext cx="2295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+0.9</a:t>
            </a:r>
            <a:endParaRPr lang="en-US" sz="3800" dirty="0"/>
          </a:p>
        </p:txBody>
      </p:sp>
      <p:sp>
        <p:nvSpPr>
          <p:cNvPr id="23" name="Text 21"/>
          <p:cNvSpPr/>
          <p:nvPr/>
        </p:nvSpPr>
        <p:spPr>
          <a:xfrm>
            <a:off x="749808" y="521208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pts vs. cap-weight, net of costs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83280" y="3749040"/>
            <a:ext cx="2697480" cy="2011680"/>
          </a:xfrm>
          <a:prstGeom prst="roundRect">
            <a:avLst>
              <a:gd name="adj" fmla="val 1818"/>
            </a:avLst>
          </a:prstGeom>
          <a:solidFill>
            <a:srgbClr val="1A1A1A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84448" y="391363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Management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84448" y="4206240"/>
            <a:ext cx="2295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-10.4%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3584448" y="5212080"/>
            <a:ext cx="2295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vol-targeted variant at 20.7% vol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17920" y="3749040"/>
            <a:ext cx="2697480" cy="2011680"/>
          </a:xfrm>
          <a:prstGeom prst="roundRect">
            <a:avLst>
              <a:gd name="adj" fmla="val 1818"/>
            </a:avLst>
          </a:prstGeom>
          <a:solidFill>
            <a:srgbClr val="1A1A1A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19088" y="391363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Integrity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19088" y="4297680"/>
            <a:ext cx="2295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Derived from 78k+ articles and 10.5k tweets; no synthetic data used.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052560" y="3749040"/>
            <a:ext cx="2697480" cy="2011680"/>
          </a:xfrm>
          <a:prstGeom prst="roundRect">
            <a:avLst>
              <a:gd name="adj" fmla="val 1818"/>
            </a:avLst>
          </a:prstGeom>
          <a:solidFill>
            <a:srgbClr val="1A1A1A"/>
          </a:solidFill>
          <a:ln w="9525">
            <a:solidFill>
              <a:srgbClr val="2A2A2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53728" y="3913632"/>
            <a:ext cx="2295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Calibrated Precision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253728" y="4297680"/>
            <a:ext cx="2295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Credit parameters stress-tested against 1.35M real Lending Club loan records.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202020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630936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Metrics reflect actual market history, not theoretical marketing projections.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Impact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7899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Transforming Workflow Efficiency and Regulatory Compliance</a:t>
            </a:r>
            <a:endParaRPr lang="en-US" sz="1500" dirty="0"/>
          </a:p>
        </p:txBody>
      </p:sp>
      <p:pic>
        <p:nvPicPr>
          <p:cNvPr id="4" name="Image 0" descr="docs/deck_build/assets/stress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4892040" cy="48920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89320" y="1883664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" name="Text 3"/>
          <p:cNvSpPr/>
          <p:nvPr/>
        </p:nvSpPr>
        <p:spPr>
          <a:xfrm>
            <a:off x="6208776" y="1783080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Efficiency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6208776" y="2121408"/>
            <a:ext cx="5449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Compresses industry-trusted risk patterns from weeks of manual effort into seconds of automated processing.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989320" y="3163824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9" name="Text 6"/>
          <p:cNvSpPr/>
          <p:nvPr/>
        </p:nvSpPr>
        <p:spPr>
          <a:xfrm>
            <a:off x="6208776" y="3063240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Intelligence &amp; Signaling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6208776" y="3401568"/>
            <a:ext cx="5449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Automates news-to-signal extraction by combining industry-standard intelligence with real-time novelty and corroboration.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989320" y="4443984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2" name="Text 9"/>
          <p:cNvSpPr/>
          <p:nvPr/>
        </p:nvSpPr>
        <p:spPr>
          <a:xfrm>
            <a:off x="6208776" y="4343400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Regulatory Alignment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6208776" y="4681728"/>
            <a:ext cx="5449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Mirrors supervisory playbooks like CCAR/DFAST and EBA/ICAAP using transition matrices and Vasicek PD modeling.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989320" y="5724144"/>
            <a:ext cx="82296" cy="82296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6208776" y="5623560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Capital Output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6208776" y="5961888"/>
            <a:ext cx="5449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Delivers actionable CET1 depletion figures in basis points, purpose-built for wholesale banking and ratings analysis.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Limitations &amp; Next Steps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7899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Assessing performance gaps and future development path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149276" y="1682675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 Limitations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1265816" y="5038165"/>
            <a:ext cx="2697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Current system issues include illustrative shock calibration, rule-based logic limitations, a modest 0.065 impact IC, and trailing performance against equal-weight benchmarks in 2022.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937760" y="1682675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Roadmap Advancements</a:t>
            </a:r>
            <a:endParaRPr lang="en-US" sz="1550" dirty="0"/>
          </a:p>
        </p:txBody>
      </p:sp>
      <p:pic>
        <p:nvPicPr>
          <p:cNvPr id="8" name="Image 1" descr="docs/deck_build/assets/lim_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8998" y="2148840"/>
            <a:ext cx="2697480" cy="2697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978998" y="5038165"/>
            <a:ext cx="2697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Planned upgrades include intraday event windows, fine-tuned event classifiers, embedding-based deduplication, and a transition to Kafka-based streaming architecture.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6217920" y="169164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550" dirty="0"/>
          </a:p>
        </p:txBody>
      </p:sp>
      <p:sp>
        <p:nvSpPr>
          <p:cNvPr id="12" name="Text 7"/>
          <p:cNvSpPr/>
          <p:nvPr/>
        </p:nvSpPr>
        <p:spPr>
          <a:xfrm>
            <a:off x="6217920" y="5029200"/>
            <a:ext cx="2697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8726244" y="1682675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Resources &amp; Transparency</a:t>
            </a:r>
            <a:endParaRPr lang="en-US" sz="1550" dirty="0"/>
          </a:p>
        </p:txBody>
      </p:sp>
      <p:pic>
        <p:nvPicPr>
          <p:cNvPr id="14" name="Image 3" descr="docs/deck_build/assets/lim_rep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2180" y="2148840"/>
            <a:ext cx="2697480" cy="26974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692180" y="5029200"/>
            <a:ext cx="2697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CA3A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code, evidence artifacts, and measurement scripts are accessible via our public repository under an MIT license.</a:t>
            </a:r>
            <a:endParaRPr lang="en-US" sz="11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14C36B2-84DB-5559-3108-34C3E30ABF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5816" y="2148840"/>
            <a:ext cx="2697480" cy="2697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611</Words>
  <Application>Microsoft Office PowerPoint</Application>
  <PresentationFormat>Widescreen</PresentationFormat>
  <Paragraphs>88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Financial Risk Intelligence Platform</dc:title>
  <dc:subject>PptxGenJS Presentation</dc:subject>
  <dc:creator>Sachin Goyal</dc:creator>
  <cp:lastModifiedBy>Sachin Goyal</cp:lastModifiedBy>
  <cp:revision>5</cp:revision>
  <dcterms:created xsi:type="dcterms:W3CDTF">2026-10-06T18:39:15Z</dcterms:created>
  <dcterms:modified xsi:type="dcterms:W3CDTF">2026-10-07T19:26:56Z</dcterms:modified>
</cp:coreProperties>
</file>